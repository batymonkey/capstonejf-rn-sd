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4630400" cy="8229600"/>
  <p:notesSz cx="8229600" cy="14630400"/>
  <p:embeddedFontLst>
    <p:embeddedFont>
      <p:font typeface="Barlow Bold" panose="00000800000000000000" pitchFamily="2" charset="-120"/>
      <p:bold r:id="rId21"/>
    </p:embeddedFont>
    <p:embeddedFont>
      <p:font typeface="Montserrat" panose="00000500000000000000" pitchFamily="2" charset="0"/>
      <p:regular r:id="rId22"/>
      <p:bold r:id="rId23"/>
    </p:embeddedFont>
  </p:embeddedFontLst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269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0.png"/><Relationship Id="rId20" Type="http://schemas.openxmlformats.org/officeDocument/2006/relationships/image" Target="../media/image24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18" Type="http://schemas.openxmlformats.org/officeDocument/2006/relationships/image" Target="../media/image4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Relationship Id="rId14" Type="http://schemas.openxmlformats.org/officeDocument/2006/relationships/image" Target="../media/image3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7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7.sv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png"/><Relationship Id="rId14" Type="http://schemas.openxmlformats.org/officeDocument/2006/relationships/image" Target="../media/image5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83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8249" y="455533"/>
            <a:ext cx="2867382" cy="286738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2583" y="3571280"/>
            <a:ext cx="7818834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RedBarrio: Sistema de Gestión Vecinal Inteligente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662583" y="4909304"/>
            <a:ext cx="7818834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Digitalización y transparencia para la gestión comunitaria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62583" y="5426869"/>
            <a:ext cx="7818834" cy="794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62583" y="6407944"/>
            <a:ext cx="7818834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Integrantes: Joaquín Fuentes, Simón Dinamarca, Raúl Núñez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62583" y="6925508"/>
            <a:ext cx="7818834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Sección: 001D | Profesor: Arturo Vargas | Año: 2025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62583" y="7443073"/>
            <a:ext cx="7818834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Carrera: Ingeniería en Informática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9258" y="501372"/>
            <a:ext cx="4797862" cy="599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Equipo de Trabajo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29258" y="5879425"/>
            <a:ext cx="2398871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Joaquín Fuentes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729258" y="6361509"/>
            <a:ext cx="4094917" cy="58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Líder técnico, arquitectura de la solución, integraciones (Supabase, n8n, IA).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612" y="1579483"/>
            <a:ext cx="4093607" cy="40936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76612" y="5878116"/>
            <a:ext cx="2398871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Simón Dinamarca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276612" y="6360200"/>
            <a:ext cx="4093607" cy="58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Diseño de experiencia de usuario, accesibilidad, flujos de vecinos.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7253" y="1579483"/>
            <a:ext cx="2924413" cy="392608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22656" y="5710595"/>
            <a:ext cx="2398871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Raúl Núñez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822656" y="6192679"/>
            <a:ext cx="4093607" cy="87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Análisis de requerimientos, modelado de procesos vecinales y validaciones con la comunidad.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729258" y="7436525"/>
            <a:ext cx="13171884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C4F2ABC-1E24-2DEA-A219-6A938C1C78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58" y="1579483"/>
            <a:ext cx="3325177" cy="41962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052" y="415766"/>
            <a:ext cx="6240780" cy="49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Contexto y Problemática Detectada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03052" y="1213247"/>
            <a:ext cx="13424297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juntas de vecinos en Chile enfrentan desafíos significativos que afectan su operatividad y la cohesión comunitaria: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03052" y="1684258"/>
            <a:ext cx="4374237" cy="1559481"/>
          </a:xfrm>
          <a:prstGeom prst="roundRect">
            <a:avLst>
              <a:gd name="adj" fmla="val 1450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05" y="1842611"/>
            <a:ext cx="452318" cy="45231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5825" y="1967032"/>
            <a:ext cx="203478" cy="2034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1405" y="2445663"/>
            <a:ext cx="1983938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Procesos Manuales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761405" y="2783919"/>
            <a:ext cx="4057531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obsoleta y lenta.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128022" y="1684258"/>
            <a:ext cx="4374237" cy="1559481"/>
          </a:xfrm>
          <a:prstGeom prst="roundRect">
            <a:avLst>
              <a:gd name="adj" fmla="val 1450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6375" y="1842611"/>
            <a:ext cx="452318" cy="45231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10795" y="1967032"/>
            <a:ext cx="203478" cy="20347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86375" y="2445663"/>
            <a:ext cx="1994535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Falta de Transparencia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286375" y="2783919"/>
            <a:ext cx="4057531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 desconfianza vecinal.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9652992" y="1684258"/>
            <a:ext cx="4374237" cy="1559481"/>
          </a:xfrm>
          <a:prstGeom prst="roundRect">
            <a:avLst>
              <a:gd name="adj" fmla="val 1450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1345" y="1842611"/>
            <a:ext cx="452318" cy="452318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35766" y="1967032"/>
            <a:ext cx="203478" cy="20347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811345" y="2445663"/>
            <a:ext cx="1983938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Baja Participación</a:t>
            </a:r>
            <a:endParaRPr lang="en-US" sz="1550" dirty="0"/>
          </a:p>
        </p:txBody>
      </p:sp>
      <p:sp>
        <p:nvSpPr>
          <p:cNvPr id="18" name="Text 10"/>
          <p:cNvSpPr/>
          <p:nvPr/>
        </p:nvSpPr>
        <p:spPr>
          <a:xfrm>
            <a:off x="9811345" y="2783919"/>
            <a:ext cx="4057531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Votaciones poco inclusivas.</a:t>
            </a:r>
            <a:endParaRPr lang="en-US" sz="1450" dirty="0"/>
          </a:p>
        </p:txBody>
      </p:sp>
      <p:sp>
        <p:nvSpPr>
          <p:cNvPr id="19" name="Shape 11"/>
          <p:cNvSpPr/>
          <p:nvPr/>
        </p:nvSpPr>
        <p:spPr>
          <a:xfrm>
            <a:off x="603052" y="3394472"/>
            <a:ext cx="4374237" cy="3247549"/>
          </a:xfrm>
          <a:prstGeom prst="roundRect">
            <a:avLst>
              <a:gd name="adj" fmla="val 696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1405" y="3552825"/>
            <a:ext cx="452318" cy="452318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5825" y="3677245"/>
            <a:ext cx="203478" cy="20347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61405" y="4155877"/>
            <a:ext cx="2065258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Comunicación Limitada</a:t>
            </a:r>
            <a:endParaRPr lang="en-US" sz="1550" dirty="0"/>
          </a:p>
        </p:txBody>
      </p:sp>
      <p:sp>
        <p:nvSpPr>
          <p:cNvPr id="23" name="Text 13"/>
          <p:cNvSpPr/>
          <p:nvPr/>
        </p:nvSpPr>
        <p:spPr>
          <a:xfrm>
            <a:off x="761405" y="4494133"/>
            <a:ext cx="4057531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llega a todos los vecinos.</a:t>
            </a:r>
            <a:endParaRPr lang="en-US" sz="1450" dirty="0"/>
          </a:p>
        </p:txBody>
      </p:sp>
      <p:sp>
        <p:nvSpPr>
          <p:cNvPr id="24" name="Text 14"/>
          <p:cNvSpPr/>
          <p:nvPr/>
        </p:nvSpPr>
        <p:spPr>
          <a:xfrm>
            <a:off x="761405" y="4885968"/>
            <a:ext cx="4057531" cy="60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Información fragmentada y desactualizada.</a:t>
            </a:r>
            <a:endParaRPr lang="en-US" sz="1450" dirty="0"/>
          </a:p>
        </p:txBody>
      </p:sp>
      <p:sp>
        <p:nvSpPr>
          <p:cNvPr id="25" name="Shape 15"/>
          <p:cNvSpPr/>
          <p:nvPr/>
        </p:nvSpPr>
        <p:spPr>
          <a:xfrm>
            <a:off x="5128022" y="3394472"/>
            <a:ext cx="4374237" cy="3247549"/>
          </a:xfrm>
          <a:prstGeom prst="roundRect">
            <a:avLst>
              <a:gd name="adj" fmla="val 696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86375" y="3552825"/>
            <a:ext cx="452318" cy="452318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410795" y="3677245"/>
            <a:ext cx="203478" cy="20347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286375" y="4155877"/>
            <a:ext cx="2185630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Sin Sistema Centralizado</a:t>
            </a:r>
            <a:endParaRPr lang="en-US" sz="1550" dirty="0"/>
          </a:p>
        </p:txBody>
      </p:sp>
      <p:sp>
        <p:nvSpPr>
          <p:cNvPr id="29" name="Text 17"/>
          <p:cNvSpPr/>
          <p:nvPr/>
        </p:nvSpPr>
        <p:spPr>
          <a:xfrm>
            <a:off x="5286375" y="4494133"/>
            <a:ext cx="4057531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Falta de plataforma unificada.</a:t>
            </a:r>
            <a:endParaRPr lang="en-US" sz="1450" dirty="0"/>
          </a:p>
        </p:txBody>
      </p:sp>
      <p:sp>
        <p:nvSpPr>
          <p:cNvPr id="30" name="Text 18"/>
          <p:cNvSpPr/>
          <p:nvPr/>
        </p:nvSpPr>
        <p:spPr>
          <a:xfrm>
            <a:off x="5286375" y="4885968"/>
            <a:ext cx="4057531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Dificulta seguimiento y control de gestión.</a:t>
            </a:r>
            <a:endParaRPr lang="en-US" sz="1450" dirty="0"/>
          </a:p>
        </p:txBody>
      </p:sp>
      <p:sp>
        <p:nvSpPr>
          <p:cNvPr id="31" name="Shape 19"/>
          <p:cNvSpPr/>
          <p:nvPr/>
        </p:nvSpPr>
        <p:spPr>
          <a:xfrm>
            <a:off x="9652992" y="3394472"/>
            <a:ext cx="4374237" cy="3247549"/>
          </a:xfrm>
          <a:prstGeom prst="roundRect">
            <a:avLst>
              <a:gd name="adj" fmla="val 696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11345" y="3552825"/>
            <a:ext cx="452318" cy="452318"/>
          </a:xfrm>
          <a:prstGeom prst="rect">
            <a:avLst/>
          </a:prstGeom>
        </p:spPr>
      </p:pic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935766" y="3677245"/>
            <a:ext cx="203478" cy="203478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9811345" y="4155877"/>
            <a:ext cx="2100620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Estadísticas Relevantes</a:t>
            </a:r>
            <a:endParaRPr lang="en-US" sz="1550" dirty="0"/>
          </a:p>
        </p:txBody>
      </p:sp>
      <p:sp>
        <p:nvSpPr>
          <p:cNvPr id="35" name="Text 21"/>
          <p:cNvSpPr/>
          <p:nvPr/>
        </p:nvSpPr>
        <p:spPr>
          <a:xfrm>
            <a:off x="9811345" y="4494133"/>
            <a:ext cx="4057531" cy="60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70% dependen de procesos manuales (SUBDERE, 2023).</a:t>
            </a:r>
            <a:endParaRPr lang="en-US" sz="1450" dirty="0"/>
          </a:p>
        </p:txBody>
      </p:sp>
      <p:sp>
        <p:nvSpPr>
          <p:cNvPr id="36" name="Text 22"/>
          <p:cNvSpPr/>
          <p:nvPr/>
        </p:nvSpPr>
        <p:spPr>
          <a:xfrm>
            <a:off x="9811345" y="5187434"/>
            <a:ext cx="4057531" cy="60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40% reducción en tiempos con digitalización (CAF, 2025).</a:t>
            </a:r>
            <a:endParaRPr lang="en-US" sz="1450" dirty="0"/>
          </a:p>
        </p:txBody>
      </p:sp>
      <p:sp>
        <p:nvSpPr>
          <p:cNvPr id="37" name="Text 23"/>
          <p:cNvSpPr/>
          <p:nvPr/>
        </p:nvSpPr>
        <p:spPr>
          <a:xfrm>
            <a:off x="9811345" y="5880735"/>
            <a:ext cx="4057531" cy="60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65% reducción en costos operativos (ScienceDirect, 2022).</a:t>
            </a:r>
            <a:endParaRPr lang="en-US" sz="1450" dirty="0"/>
          </a:p>
        </p:txBody>
      </p:sp>
      <p:sp>
        <p:nvSpPr>
          <p:cNvPr id="38" name="Shape 24"/>
          <p:cNvSpPr/>
          <p:nvPr/>
        </p:nvSpPr>
        <p:spPr>
          <a:xfrm>
            <a:off x="603052" y="6811566"/>
            <a:ext cx="13424297" cy="1002268"/>
          </a:xfrm>
          <a:prstGeom prst="roundRect">
            <a:avLst>
              <a:gd name="adj" fmla="val 22566"/>
            </a:avLst>
          </a:prstGeom>
          <a:solidFill>
            <a:srgbClr val="BEDFF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3785" y="7048262"/>
            <a:ext cx="235506" cy="188476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1140023" y="6999923"/>
            <a:ext cx="12736592" cy="60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 urgente una solución tecnológica integral que digitalice procesos, mejore la participación y fortalezca la confianza y unión comunitaria.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876895"/>
            <a:ext cx="7449264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Propuesta de Solución: RedBarrio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58309" y="1784747"/>
            <a:ext cx="7627382" cy="1137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RedBarrio es un </a:t>
            </a:r>
            <a:r>
              <a:rPr lang="en-US" sz="1850" b="1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digital de gestión territorial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que moderniza el funcionamiento de las juntas de vecinos mediante una aplicación móvil.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758309" y="3135273"/>
            <a:ext cx="7627382" cy="151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 módulos para </a:t>
            </a:r>
            <a:r>
              <a:rPr lang="en-US" sz="1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certificados de residencia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votaciones en línea con voto único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de proyectos y actividades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reservas de espacios comunitarios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pagos en línea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</a:t>
            </a:r>
            <a:r>
              <a:rPr lang="en-US" sz="1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reportes de transparencia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58309" y="4864894"/>
            <a:ext cx="7627382" cy="1137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Incluye un </a:t>
            </a:r>
            <a:r>
              <a:rPr lang="en-US" sz="1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chatbot con IA entrenado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soporte por voz, pensado como apoyo para vecinos con baja alfabetización digital y adultos mayores.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58309" y="6215420"/>
            <a:ext cx="7627382" cy="1137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plataforma busca </a:t>
            </a:r>
            <a:r>
              <a:rPr lang="en-US" sz="1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optimizar tiempos administrativos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aumentar la </a:t>
            </a:r>
            <a:r>
              <a:rPr lang="en-US" sz="1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participación ciudadana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aportar </a:t>
            </a:r>
            <a:r>
              <a:rPr lang="en-US" sz="1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claridad en el uso de recursos comunitarios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60120"/>
            <a:ext cx="8836581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Objetivo General y Objetivos Específicos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58309" y="1962745"/>
            <a:ext cx="13113782" cy="2203252"/>
          </a:xfrm>
          <a:prstGeom prst="roundRect">
            <a:avLst>
              <a:gd name="adj" fmla="val 12907"/>
            </a:avLst>
          </a:prstGeom>
          <a:solidFill>
            <a:srgbClr val="BEDFF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57" y="2242542"/>
            <a:ext cx="374094" cy="2993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11498" y="2199680"/>
            <a:ext cx="2993350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Objetivo General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1511498" y="2763322"/>
            <a:ext cx="12171045" cy="1137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RedBarrio es un sistema digital que moderniza y transparenta la gestión de juntas de vecinos en Chile. Facilita la conexión, participación ciudadana y administración comunitaria con herramientas tecnológicas innovadoras.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58309" y="4450318"/>
            <a:ext cx="2993350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2589C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Objetivos Específicos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758309" y="5108734"/>
            <a:ext cx="13113782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Promover la participación activa y el acceso transparente a la información comunitaria.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58309" y="5554147"/>
            <a:ext cx="13113782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Optimizar la gestión administrativa, simplificando trámites y reduciendo tiempos.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58309" y="5999559"/>
            <a:ext cx="13113782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Fomentar la cohesión vecinal a través de canales de comunicación efectivos.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58309" y="6444972"/>
            <a:ext cx="13113782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Garantizar la transparencia y seguridad en la administración de recursos y decisiones.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58309" y="6890385"/>
            <a:ext cx="13113782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Impulsar la inclusión digital ofreciendo herramientas accesibles para todos los vecinos.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42104"/>
            <a:ext cx="4988838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Módulos Mínimos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309" y="1644729"/>
            <a:ext cx="473869" cy="4738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9112" y="1757243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Acceso y perfil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469112" y="2182654"/>
            <a:ext cx="5727621" cy="75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y login para vecinos y directiva con verificación de residencia.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3667" y="1644729"/>
            <a:ext cx="473869" cy="4738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44470" y="1757243"/>
            <a:ext cx="355484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Sistema de solicitudes y gestión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8144470" y="2182654"/>
            <a:ext cx="5727621" cy="75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Formularios digitales para trámites y emisión de certificados.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309" y="3319939"/>
            <a:ext cx="473869" cy="47386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69112" y="3432453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Proyectos vecinales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469112" y="3857863"/>
            <a:ext cx="5727621" cy="75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Postulación y seguimiento de proyectos comunitarios.</a:t>
            </a:r>
            <a:endParaRPr lang="en-US" sz="1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33667" y="3319939"/>
            <a:ext cx="473869" cy="47386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44470" y="3432453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Inscripción de eventos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8144470" y="3857863"/>
            <a:ext cx="5727621" cy="75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a talleres y actividades con gestión de cupos.</a:t>
            </a:r>
            <a:endParaRPr lang="en-US" sz="18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8309" y="4995148"/>
            <a:ext cx="473869" cy="47386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69112" y="5107662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Noticias y novedades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469112" y="5533072"/>
            <a:ext cx="5727621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Publicación de comunicados y avisos vecinales.</a:t>
            </a:r>
            <a:endParaRPr lang="en-US" sz="18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33667" y="4995148"/>
            <a:ext cx="473869" cy="47386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144470" y="5107662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Notificaciones</a:t>
            </a:r>
            <a:endParaRPr lang="en-US" sz="1950" dirty="0"/>
          </a:p>
        </p:txBody>
      </p:sp>
      <p:sp>
        <p:nvSpPr>
          <p:cNvPr id="20" name="Text 12"/>
          <p:cNvSpPr/>
          <p:nvPr/>
        </p:nvSpPr>
        <p:spPr>
          <a:xfrm>
            <a:off x="8144470" y="5533072"/>
            <a:ext cx="5727621" cy="75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Alertas personalizadas por correo y notificaciones push.</a:t>
            </a:r>
            <a:endParaRPr lang="en-US" sz="18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8309" y="6670358"/>
            <a:ext cx="473869" cy="473869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469112" y="6782872"/>
            <a:ext cx="4083606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Agenda pública de calendario vecinal</a:t>
            </a:r>
            <a:endParaRPr lang="en-US" sz="1950" dirty="0"/>
          </a:p>
        </p:txBody>
      </p:sp>
      <p:sp>
        <p:nvSpPr>
          <p:cNvPr id="23" name="Text 14"/>
          <p:cNvSpPr/>
          <p:nvPr/>
        </p:nvSpPr>
        <p:spPr>
          <a:xfrm>
            <a:off x="1469112" y="7208282"/>
            <a:ext cx="5727621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Visualización de eventos y reservas de espacios.</a:t>
            </a:r>
            <a:endParaRPr lang="en-US" sz="18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33667" y="6670358"/>
            <a:ext cx="473869" cy="473869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144470" y="6782872"/>
            <a:ext cx="2845237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Soporte y documentación</a:t>
            </a:r>
            <a:endParaRPr lang="en-US" sz="1950" dirty="0"/>
          </a:p>
        </p:txBody>
      </p:sp>
      <p:sp>
        <p:nvSpPr>
          <p:cNvPr id="26" name="Text 16"/>
          <p:cNvSpPr/>
          <p:nvPr/>
        </p:nvSpPr>
        <p:spPr>
          <a:xfrm>
            <a:off x="8144470" y="7208282"/>
            <a:ext cx="5727621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FAQ, guías de uso y canal de contacto.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9848" y="474345"/>
            <a:ext cx="6928723" cy="567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Módulos Innovadores de RedBarrio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89848" y="1386602"/>
            <a:ext cx="13250704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módulos </a:t>
            </a:r>
            <a:r>
              <a:rPr lang="en-US" sz="1650" b="1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diferenciadores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que hacen de RedBarrio una solución única: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848" y="1925479"/>
            <a:ext cx="431125" cy="431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6477" y="2027872"/>
            <a:ext cx="2269569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Registro con OCR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336477" y="2414945"/>
            <a:ext cx="3626525" cy="103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Validación automática de residencia y RUT mediante </a:t>
            </a: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escaneo de documentos.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78504" y="1925479"/>
            <a:ext cx="431125" cy="4311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25133" y="2027872"/>
            <a:ext cx="3626644" cy="56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Votaciones vecinales automatizadas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5825133" y="2698552"/>
            <a:ext cx="3626644" cy="103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Votaciones en línea con voto </a:t>
            </a: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único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por RUT y resultados en </a:t>
            </a: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tiempo real.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67280" y="1925479"/>
            <a:ext cx="431125" cy="4311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313908" y="2027872"/>
            <a:ext cx="2269569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Chatbot con IA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10313908" y="2414945"/>
            <a:ext cx="3626525" cy="68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Resuelve FAQs, guía trámites y ofrece soporte por</a:t>
            </a: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notas de voz.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9848" y="4078248"/>
            <a:ext cx="431125" cy="4311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36477" y="4180642"/>
            <a:ext cx="3165038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Automatización de certificados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1336477" y="4567714"/>
            <a:ext cx="3626525" cy="68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Generación y envío </a:t>
            </a: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automático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certificados en PDF.</a:t>
            </a:r>
            <a:endParaRPr lang="en-US" sz="16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78504" y="4078248"/>
            <a:ext cx="431125" cy="43112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825133" y="4180642"/>
            <a:ext cx="3626644" cy="56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Reportes y transparencia con analítica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5825133" y="4851321"/>
            <a:ext cx="3626644" cy="103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Dashboards con </a:t>
            </a: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métricas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participación y opción de descarga.</a:t>
            </a:r>
            <a:endParaRPr lang="en-US" sz="16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67280" y="4078248"/>
            <a:ext cx="431125" cy="43112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313908" y="4180642"/>
            <a:ext cx="3626525" cy="56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Pago en línea y arriendo transparente</a:t>
            </a:r>
            <a:endParaRPr lang="en-US" sz="1750" dirty="0"/>
          </a:p>
        </p:txBody>
      </p:sp>
      <p:sp>
        <p:nvSpPr>
          <p:cNvPr id="21" name="Text 13"/>
          <p:cNvSpPr/>
          <p:nvPr/>
        </p:nvSpPr>
        <p:spPr>
          <a:xfrm>
            <a:off x="10313908" y="4851321"/>
            <a:ext cx="3626525" cy="103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de pagos de arriendos y servicios comunitarios con </a:t>
            </a: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Webpay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6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89848" y="6231017"/>
            <a:ext cx="431125" cy="43112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336477" y="6333411"/>
            <a:ext cx="2439233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Integración con Map box</a:t>
            </a:r>
            <a:endParaRPr lang="en-US" sz="1750" dirty="0"/>
          </a:p>
        </p:txBody>
      </p:sp>
      <p:sp>
        <p:nvSpPr>
          <p:cNvPr id="24" name="Text 15"/>
          <p:cNvSpPr/>
          <p:nvPr/>
        </p:nvSpPr>
        <p:spPr>
          <a:xfrm>
            <a:off x="1336477" y="6720483"/>
            <a:ext cx="3626525" cy="103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Visualización de espacios comunitarios en un </a:t>
            </a: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mapa interactivo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460778"/>
            <a:ext cx="6800731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Alcance del Sistema RedBarrio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58309" y="2581870"/>
            <a:ext cx="6325672" cy="3973711"/>
          </a:xfrm>
          <a:prstGeom prst="roundRect">
            <a:avLst>
              <a:gd name="adj" fmla="val 2761"/>
            </a:avLst>
          </a:prstGeom>
          <a:solidFill>
            <a:srgbClr val="FFFFFF"/>
          </a:solidFill>
          <a:ln w="22860">
            <a:solidFill>
              <a:srgbClr val="D4ED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735449" y="2581870"/>
            <a:ext cx="91440" cy="3973711"/>
          </a:xfrm>
          <a:prstGeom prst="roundRect">
            <a:avLst>
              <a:gd name="adj" fmla="val 310990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039297" y="2794278"/>
            <a:ext cx="3599497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15572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 que SÍ incluye RedBarrio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1039297" y="3357920"/>
            <a:ext cx="5832277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de usuarios y directorio.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39297" y="3803333"/>
            <a:ext cx="5832277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Trámites digitales (certificados, solicitudes).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39297" y="4248745"/>
            <a:ext cx="5832277" cy="75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Participación ciudadana (votaciones, proyectos, actividades).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39297" y="5073253"/>
            <a:ext cx="5832277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Transparencia financiera y de agenda vecinal.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39297" y="5518666"/>
            <a:ext cx="5832277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móvil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39297" y="5964079"/>
            <a:ext cx="5832277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Automatizaciones clave con n8n.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554039" y="2581870"/>
            <a:ext cx="6325672" cy="3016568"/>
          </a:xfrm>
          <a:prstGeom prst="roundRect">
            <a:avLst>
              <a:gd name="adj" fmla="val 3638"/>
            </a:avLst>
          </a:prstGeom>
          <a:solidFill>
            <a:srgbClr val="FFFFFF"/>
          </a:solidFill>
          <a:ln w="22860">
            <a:solidFill>
              <a:srgbClr val="F8D7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7531179" y="2581870"/>
            <a:ext cx="91440" cy="3016568"/>
          </a:xfrm>
          <a:prstGeom prst="roundRect">
            <a:avLst>
              <a:gd name="adj" fmla="val 310990"/>
            </a:avLst>
          </a:prstGeom>
          <a:solidFill>
            <a:srgbClr val="F8D7D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7835027" y="2794278"/>
            <a:ext cx="4806196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721C2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 que NO incluye (fuera de alcance)</a:t>
            </a:r>
            <a:endParaRPr lang="en-US" sz="2350" dirty="0"/>
          </a:p>
        </p:txBody>
      </p:sp>
      <p:sp>
        <p:nvSpPr>
          <p:cNvPr id="15" name="Text 13"/>
          <p:cNvSpPr/>
          <p:nvPr/>
        </p:nvSpPr>
        <p:spPr>
          <a:xfrm>
            <a:off x="7835027" y="3357920"/>
            <a:ext cx="5832277" cy="75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Integración directa con sistemas municipales/gubernamentales.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835027" y="4182428"/>
            <a:ext cx="5832277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Firmas digitales avanzadas certificadas.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835027" y="4627840"/>
            <a:ext cx="5832277" cy="75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Integraciones bancarias complejas y seguridad física (cámaras, sensores).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9848" y="646152"/>
            <a:ext cx="5208151" cy="567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Metodología de Desarrollo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89848" y="1558409"/>
            <a:ext cx="13250704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RedBarrio se desarrolló utilizando un </a:t>
            </a:r>
            <a:r>
              <a:rPr lang="en-US" sz="1650" b="1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enfoque híbrido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que combina lo mejor de las metodologías tradicionales y ágiles: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89848" y="2162056"/>
            <a:ext cx="272343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Enfoque general: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89848" y="2761059"/>
            <a:ext cx="13250704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Etapas iniciales con enfoque más tradicional (levantamiento, análisis, diseño documentado).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9848" y="3166348"/>
            <a:ext cx="13250704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Desarrollo y validación con enfoque ágil (sprints, iteraciones, feedback de usuarios).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48" y="3705225"/>
            <a:ext cx="6625352" cy="6898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2251" y="4567476"/>
            <a:ext cx="2269569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Inicio y planificación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62251" y="4954548"/>
            <a:ext cx="6280547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 1: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objetivos, alcance, riesgos, cronograma.</a:t>
            </a:r>
            <a:endParaRPr lang="en-US" sz="16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705225"/>
            <a:ext cx="6625352" cy="6898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87602" y="4567476"/>
            <a:ext cx="2457331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Diseño y análisis técnico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487602" y="4954548"/>
            <a:ext cx="6280547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 1: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requerimientos, casos de uso, arquitectura.</a:t>
            </a:r>
            <a:endParaRPr lang="en-US" sz="16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848" y="5471874"/>
            <a:ext cx="6625352" cy="6898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2251" y="6334125"/>
            <a:ext cx="2870835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Desarrollo e implementación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862251" y="6721197"/>
            <a:ext cx="6280547" cy="68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 2–3: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construcción de módulos, integraciones de APIs, pruebas con vecinos y funcionales.</a:t>
            </a:r>
            <a:endParaRPr lang="en-US" sz="16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5471874"/>
            <a:ext cx="6625352" cy="6898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87602" y="6334125"/>
            <a:ext cx="2269569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Evaluación y cierre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7487602" y="6721197"/>
            <a:ext cx="6280547" cy="68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Validación final, presentación a la comunidad, lecciones aprendidas.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410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1503" y="2265759"/>
            <a:ext cx="3892034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Tecnologías Utilizadas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591503" y="2974062"/>
            <a:ext cx="6649760" cy="938570"/>
          </a:xfrm>
          <a:prstGeom prst="roundRect">
            <a:avLst>
              <a:gd name="adj" fmla="val 2363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746998" y="3129558"/>
            <a:ext cx="1945957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Frontend / App Móvil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46998" y="3461385"/>
            <a:ext cx="6338768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Ionic + Angular, TypeScript.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389138" y="2974062"/>
            <a:ext cx="6649760" cy="938570"/>
          </a:xfrm>
          <a:prstGeom prst="roundRect">
            <a:avLst>
              <a:gd name="adj" fmla="val 2363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7544633" y="3129558"/>
            <a:ext cx="1945957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Backend / BBDD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44633" y="3461385"/>
            <a:ext cx="6338768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Supabase (PostgreSQL, Auth, Storage, functions).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91503" y="4060508"/>
            <a:ext cx="6649760" cy="1234321"/>
          </a:xfrm>
          <a:prstGeom prst="roundRect">
            <a:avLst>
              <a:gd name="adj" fmla="val 179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746998" y="4216003"/>
            <a:ext cx="1945957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Automatización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6998" y="4547830"/>
            <a:ext cx="6338768" cy="591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n8n (workflows para certificados, votaciones, reportes, notificaciones).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389138" y="4060508"/>
            <a:ext cx="6649760" cy="1234321"/>
          </a:xfrm>
          <a:prstGeom prst="roundRect">
            <a:avLst>
              <a:gd name="adj" fmla="val 179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7544633" y="4216003"/>
            <a:ext cx="1945957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OCR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544633" y="4547830"/>
            <a:ext cx="6338768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ML Kit (OCR en móvil).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91503" y="5461159"/>
            <a:ext cx="6649760" cy="1249561"/>
          </a:xfrm>
          <a:prstGeom prst="roundRect">
            <a:avLst>
              <a:gd name="adj" fmla="val 17754"/>
            </a:avLst>
          </a:prstGeom>
          <a:solidFill>
            <a:srgbClr val="FFFFFF"/>
          </a:solidFill>
          <a:ln w="1524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754618" y="5624274"/>
            <a:ext cx="1945957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IA / Chatbot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54618" y="5956102"/>
            <a:ext cx="6323528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Integración con modelo de lenguaje OpenAI.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7389138" y="5461159"/>
            <a:ext cx="6649760" cy="1249561"/>
          </a:xfrm>
          <a:prstGeom prst="roundRect">
            <a:avLst>
              <a:gd name="adj" fmla="val 17754"/>
            </a:avLst>
          </a:prstGeom>
          <a:solidFill>
            <a:srgbClr val="FFFFFF"/>
          </a:solidFill>
          <a:ln w="1524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7552253" y="5624274"/>
            <a:ext cx="1945957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Mapas y Calendario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552253" y="5956102"/>
            <a:ext cx="6323528" cy="591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integración de Map box para visualizar mapas y google calendar para una agenda pública vecinal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591503" y="6858595"/>
            <a:ext cx="6649760" cy="953810"/>
          </a:xfrm>
          <a:prstGeom prst="roundRect">
            <a:avLst>
              <a:gd name="adj" fmla="val 23259"/>
            </a:avLst>
          </a:prstGeom>
          <a:solidFill>
            <a:srgbClr val="FFFFFF"/>
          </a:solidFill>
          <a:ln w="1524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754618" y="7021711"/>
            <a:ext cx="1945957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Pagos en línea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54618" y="7353538"/>
            <a:ext cx="6323528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Pagos seguros en línea mediante Webpay Plus.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7389138" y="6858595"/>
            <a:ext cx="6649760" cy="953810"/>
          </a:xfrm>
          <a:prstGeom prst="roundRect">
            <a:avLst>
              <a:gd name="adj" fmla="val 23259"/>
            </a:avLst>
          </a:prstGeom>
          <a:solidFill>
            <a:srgbClr val="FFFFFF"/>
          </a:solidFill>
          <a:ln w="1524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7552253" y="7021711"/>
            <a:ext cx="1945957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Visualización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552253" y="7353538"/>
            <a:ext cx="6323528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Desarrollo de gráficos con Chart.js y figma para UI/UX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24376"/>
            <a:ext cx="5806440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Arquitectura de RedBarrio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1727002"/>
            <a:ext cx="13113663" cy="52617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7201972"/>
            <a:ext cx="131137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4957" y="415885"/>
            <a:ext cx="9625846" cy="49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Módulos Panel de directorio y Módulo de Transparencia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496133" y="1140143"/>
            <a:ext cx="4444722" cy="6263402"/>
          </a:xfrm>
          <a:prstGeom prst="roundRect">
            <a:avLst>
              <a:gd name="adj" fmla="val 8167"/>
            </a:avLst>
          </a:prstGeom>
          <a:solidFill>
            <a:srgbClr val="E5F6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647343" y="1276231"/>
            <a:ext cx="4142303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Menú de inicio Vecino /       Directorio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463" y="1688306"/>
            <a:ext cx="2714999" cy="54011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7343" y="7025521"/>
            <a:ext cx="4142303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099685" y="1140143"/>
            <a:ext cx="4444722" cy="6263402"/>
          </a:xfrm>
          <a:prstGeom prst="roundRect">
            <a:avLst>
              <a:gd name="adj" fmla="val 8167"/>
            </a:avLst>
          </a:prstGeom>
          <a:solidFill>
            <a:srgbClr val="E5F6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5250894" y="1276231"/>
            <a:ext cx="4142303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     Panel de gestión directorio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958" y="1688305"/>
            <a:ext cx="2726055" cy="540115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703237" y="1140143"/>
            <a:ext cx="4444722" cy="6263402"/>
          </a:xfrm>
          <a:prstGeom prst="roundRect">
            <a:avLst>
              <a:gd name="adj" fmla="val 8167"/>
            </a:avLst>
          </a:prstGeom>
          <a:solidFill>
            <a:srgbClr val="E5F6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7"/>
          <p:cNvSpPr/>
          <p:nvPr/>
        </p:nvSpPr>
        <p:spPr>
          <a:xfrm>
            <a:off x="9854446" y="1276231"/>
            <a:ext cx="4142303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     Módulo de transparencia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834" y="1688305"/>
            <a:ext cx="2774022" cy="54011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4957" y="7573685"/>
            <a:ext cx="13420487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87579"/>
            <a:ext cx="4988838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Flujo general n8n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2590205"/>
            <a:ext cx="131137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319939"/>
            <a:ext cx="13113782" cy="3321963"/>
          </a:xfrm>
          <a:prstGeom prst="rect">
            <a:avLst/>
          </a:prstGeom>
        </p:spPr>
      </p:pic>
      <p:pic>
        <p:nvPicPr>
          <p:cNvPr id="6" name="Imagen 5" descr="Imagen que contiene firmar, monitor, calle, reloj&#10;&#10;El contenido generado por IA puede ser incorrecto.">
            <a:extLst>
              <a:ext uri="{FF2B5EF4-FFF2-40B4-BE49-F238E27FC236}">
                <a16:creationId xmlns:a16="http://schemas.microsoft.com/office/drawing/2014/main" id="{A439C85E-948A-0CFE-7954-4B3D3063B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2728" y="3394800"/>
            <a:ext cx="2544059" cy="1798830"/>
          </a:xfrm>
          <a:prstGeom prst="rect">
            <a:avLst/>
          </a:prstGeom>
        </p:spPr>
      </p:pic>
      <p:pic>
        <p:nvPicPr>
          <p:cNvPr id="8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5D494929-70B7-FDDC-60FD-354C97DC40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4976" y="3729600"/>
            <a:ext cx="1923726" cy="1083179"/>
          </a:xfrm>
          <a:prstGeom prst="rect">
            <a:avLst/>
          </a:prstGeom>
        </p:spPr>
      </p:pic>
      <p:pic>
        <p:nvPicPr>
          <p:cNvPr id="10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D0A29E24-675A-91DD-EFE1-7EDB63E91F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1698" y="3510516"/>
            <a:ext cx="1749874" cy="15213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3423880"/>
            <a:ext cx="6685955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Demostración de la Aplicación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4426506"/>
            <a:ext cx="13113782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continuación se presenta el funcionamiento de RedBarrio.</a:t>
            </a:r>
            <a:endParaRPr lang="en-US" sz="1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428988"/>
            <a:ext cx="9302472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Cumplimiento Normativo y Puntos Fuertes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58309" y="2431613"/>
            <a:ext cx="6462117" cy="2089666"/>
          </a:xfrm>
          <a:prstGeom prst="roundRect">
            <a:avLst>
              <a:gd name="adj" fmla="val 1360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955477" y="2628781"/>
            <a:ext cx="5019080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Ley 19.628 de Protección de Datos Personales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5477" y="3054191"/>
            <a:ext cx="6067782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Consentimiento informado para datos.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55477" y="3499604"/>
            <a:ext cx="6067782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Minimización de datos.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55477" y="3945017"/>
            <a:ext cx="6067782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Almacenamiento seguro.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409974" y="2431613"/>
            <a:ext cx="6462117" cy="2089666"/>
          </a:xfrm>
          <a:prstGeom prst="roundRect">
            <a:avLst>
              <a:gd name="adj" fmla="val 1360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7607141" y="2628781"/>
            <a:ext cx="4744998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Ley 20.950 de Medios de Pago Electrónicos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607141" y="3054191"/>
            <a:ext cx="6067782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Pagos electrónicos seguros.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607141" y="3499604"/>
            <a:ext cx="6067782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Cumple normativas Webpay/Transbank.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607141" y="3945017"/>
            <a:ext cx="6067782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Transparencia en transacciones.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58309" y="4710827"/>
            <a:ext cx="6462117" cy="2089666"/>
          </a:xfrm>
          <a:prstGeom prst="roundRect">
            <a:avLst>
              <a:gd name="adj" fmla="val 1360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955477" y="4907994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Buenas Prácticas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55477" y="5333405"/>
            <a:ext cx="6067782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OCR local, no envía datos.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55477" y="5778817"/>
            <a:ext cx="6067782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Vecinos pueden solicitar eliminación.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55477" y="6224230"/>
            <a:ext cx="6067782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de auditoría de acciones.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409974" y="4710827"/>
            <a:ext cx="6462117" cy="2089666"/>
          </a:xfrm>
          <a:prstGeom prst="roundRect">
            <a:avLst>
              <a:gd name="adj" fmla="val 1360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7607141" y="4907994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Ventajas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607141" y="5333405"/>
            <a:ext cx="6067782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Mayor seguridad que procesos manuales.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607141" y="5778817"/>
            <a:ext cx="6067782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Bajo riesgo de suplantación.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607141" y="6224230"/>
            <a:ext cx="6067782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respaldada por evidencia.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59249"/>
            <a:ext cx="10424993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Desafíos Técnicos y Soluciones Implementadas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58309" y="1661874"/>
            <a:ext cx="6462117" cy="2859405"/>
          </a:xfrm>
          <a:prstGeom prst="roundRect">
            <a:avLst>
              <a:gd name="adj" fmla="val 3837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49" y="1661874"/>
            <a:ext cx="91440" cy="28594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39297" y="1874282"/>
            <a:ext cx="3195757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Desafío: Integración múltiple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39297" y="2299692"/>
            <a:ext cx="5968722" cy="75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Integrar múltiples servicios (Supabase, n8n, OCR, IA, WebPay) de forma coherente.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039297" y="3171587"/>
            <a:ext cx="5968722" cy="75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Solución: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Arquitectura modular con APIs claras y workflows en n8n.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7409974" y="1661874"/>
            <a:ext cx="6462117" cy="2859405"/>
          </a:xfrm>
          <a:prstGeom prst="roundRect">
            <a:avLst>
              <a:gd name="adj" fmla="val 3837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114" y="1661874"/>
            <a:ext cx="91440" cy="28594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90961" y="1874282"/>
            <a:ext cx="3079671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Desafío: Experiencia simple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7690961" y="2299692"/>
            <a:ext cx="5968722" cy="75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Garantizar una experiencia simple para usuarios con distintos niveles de alfabetización digital.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7690961" y="3171587"/>
            <a:ext cx="5968722" cy="1137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Solución: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Diseño de interfaz con foco en </a:t>
            </a:r>
            <a:r>
              <a:rPr lang="en-US" sz="1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usabilidad y accesibilidad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(botones grandes, texto claro, flujos guiados).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758309" y="4710827"/>
            <a:ext cx="6462117" cy="2859405"/>
          </a:xfrm>
          <a:prstGeom prst="roundRect">
            <a:avLst>
              <a:gd name="adj" fmla="val 3837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49" y="4710827"/>
            <a:ext cx="91440" cy="285940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39297" y="4923234"/>
            <a:ext cx="2872145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Desafío: Unicidad del voto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1039297" y="5348645"/>
            <a:ext cx="5968722" cy="75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Asegurar la unicidad del voto y la consistencia de datos en votaciones.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1039297" y="6220539"/>
            <a:ext cx="5968722" cy="1137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Solución: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Restricciones de base de datos (UNIQUE por votación y RUT), reglas de negocio en backend.</a:t>
            </a:r>
            <a:endParaRPr lang="en-US" sz="1850" dirty="0"/>
          </a:p>
        </p:txBody>
      </p:sp>
      <p:sp>
        <p:nvSpPr>
          <p:cNvPr id="18" name="Shape 13"/>
          <p:cNvSpPr/>
          <p:nvPr/>
        </p:nvSpPr>
        <p:spPr>
          <a:xfrm>
            <a:off x="7409974" y="4710827"/>
            <a:ext cx="6462117" cy="2859405"/>
          </a:xfrm>
          <a:prstGeom prst="roundRect">
            <a:avLst>
              <a:gd name="adj" fmla="val 3837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114" y="4710827"/>
            <a:ext cx="91440" cy="285940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90961" y="4923234"/>
            <a:ext cx="489084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Desafío: Accesibilidad para adultos mayores</a:t>
            </a:r>
            <a:endParaRPr lang="en-US" sz="1950" dirty="0"/>
          </a:p>
        </p:txBody>
      </p:sp>
      <p:sp>
        <p:nvSpPr>
          <p:cNvPr id="21" name="Text 15"/>
          <p:cNvSpPr/>
          <p:nvPr/>
        </p:nvSpPr>
        <p:spPr>
          <a:xfrm>
            <a:off x="7690961" y="5348645"/>
            <a:ext cx="5968722" cy="75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Diseñar flujos accesibles para </a:t>
            </a:r>
            <a:r>
              <a:rPr lang="en-US" sz="1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adultos mayores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(uso de voz, textos claros, menos pasos).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7690961" y="6220539"/>
            <a:ext cx="5968722" cy="1137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Solución: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Chatbot con IA y soporte de </a:t>
            </a:r>
            <a:r>
              <a:rPr lang="en-US" sz="1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notas de voz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para que personas mayores puedan interactuar sin escribir.</a:t>
            </a:r>
            <a:endParaRPr lang="en-US" sz="1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200" y="443508"/>
            <a:ext cx="6138982" cy="530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Conclusiones y Agradecimientos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5200" y="1377196"/>
            <a:ext cx="2546866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589C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5200" y="1856661"/>
            <a:ext cx="7159943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RedBarrio responde a problemas reales de las juntas de vecinos: trámites lentos, baja participación y difícil acceso a transparencia.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5200" y="2557939"/>
            <a:ext cx="7159943" cy="96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solución propone una plataforma integral que combina módulos clásicos (gestión de usuarios, certificados, eventos) con innovaciones (OCR, IA, automatizaciones).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5200" y="3581638"/>
            <a:ext cx="7159943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fortalece el tejido social al ofrecer canales más inclusivos de participación y conexión.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5200" y="4387691"/>
            <a:ext cx="2546866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63E5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Agradecimientos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5200" y="4867156"/>
            <a:ext cx="7159943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los profesores y a la institución (DUOC UC).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5200" y="5246013"/>
            <a:ext cx="7159943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las juntas de vecinos que sirvieron de inspiración o referencia conceptual.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5200" y="5947291"/>
            <a:ext cx="7159943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 equipo de trabajo por el esfuerzo conjunto.</a:t>
            </a:r>
            <a:endParaRPr lang="en-US" sz="12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145" y="1397437"/>
            <a:ext cx="5786557" cy="578655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5200" y="7627465"/>
            <a:ext cx="13340001" cy="27742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645200" y="7836575"/>
            <a:ext cx="13340001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Gracias por su atención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8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513773"/>
            <a:ext cx="9977795" cy="124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0"/>
              </a:lnSpc>
              <a:buNone/>
            </a:pPr>
            <a:r>
              <a:rPr lang="en-US" sz="7850" b="1" dirty="0">
                <a:solidFill>
                  <a:srgbClr val="75BA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RedBarrio</a:t>
            </a:r>
            <a:endParaRPr lang="en-US" sz="7850" dirty="0"/>
          </a:p>
        </p:txBody>
      </p:sp>
      <p:sp>
        <p:nvSpPr>
          <p:cNvPr id="4" name="Text 1"/>
          <p:cNvSpPr/>
          <p:nvPr/>
        </p:nvSpPr>
        <p:spPr>
          <a:xfrm>
            <a:off x="758309" y="5045273"/>
            <a:ext cx="13113782" cy="99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Construyendo comunidades más </a:t>
            </a:r>
            <a:r>
              <a:rPr lang="en-US" sz="3100" b="1" dirty="0">
                <a:solidFill>
                  <a:srgbClr val="2589C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conectadas</a:t>
            </a:r>
            <a:r>
              <a:rPr lang="en-US" sz="3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, </a:t>
            </a:r>
            <a:r>
              <a:rPr lang="en-US" sz="3100" b="1" dirty="0">
                <a:solidFill>
                  <a:srgbClr val="063E5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participativas</a:t>
            </a:r>
            <a:r>
              <a:rPr lang="en-US" sz="3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y </a:t>
            </a:r>
            <a:r>
              <a:rPr lang="en-US" sz="3100" b="1" dirty="0">
                <a:solidFill>
                  <a:srgbClr val="75BA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transparentes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758309" y="6327338"/>
            <a:ext cx="13113782" cy="75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sistema que pone la </a:t>
            </a:r>
            <a:r>
              <a:rPr lang="en-US" sz="1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tecnología al servicio de la comunidad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priorizando la </a:t>
            </a:r>
            <a:r>
              <a:rPr lang="en-US" sz="1850" b="1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inclusión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la </a:t>
            </a:r>
            <a:r>
              <a:rPr lang="en-US" sz="1850" b="1" dirty="0">
                <a:solidFill>
                  <a:srgbClr val="063E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participación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</a:t>
            </a:r>
            <a:r>
              <a:rPr lang="en-US" sz="1850" b="1" dirty="0">
                <a:solidFill>
                  <a:srgbClr val="063E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optimización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la </a:t>
            </a:r>
            <a:r>
              <a:rPr lang="en-US" sz="1850" b="1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transparencia</a:t>
            </a:r>
            <a:r>
              <a:rPr lang="en-US" sz="1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como ejes centrales del desarrollo vecinal.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1387</Words>
  <Application>Microsoft Office PowerPoint</Application>
  <PresentationFormat>Personalizado</PresentationFormat>
  <Paragraphs>189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Barlow Bold</vt:lpstr>
      <vt:lpstr>Montserrat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JOAQUIN . FUENTES PENROZ</cp:lastModifiedBy>
  <cp:revision>3</cp:revision>
  <dcterms:created xsi:type="dcterms:W3CDTF">2025-12-02T01:53:04Z</dcterms:created>
  <dcterms:modified xsi:type="dcterms:W3CDTF">2025-12-02T01:59:06Z</dcterms:modified>
</cp:coreProperties>
</file>